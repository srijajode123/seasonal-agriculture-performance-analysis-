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3"/>
  </p:notesMasterIdLst>
  <p:handoutMasterIdLst>
    <p:handoutMasterId r:id="rId14"/>
  </p:handoutMasterIdLst>
  <p:sldIdLst>
    <p:sldId id="338" r:id="rId5"/>
    <p:sldId id="327" r:id="rId6"/>
    <p:sldId id="315" r:id="rId7"/>
    <p:sldId id="329" r:id="rId8"/>
    <p:sldId id="302" r:id="rId9"/>
    <p:sldId id="339" r:id="rId10"/>
    <p:sldId id="340" r:id="rId11"/>
    <p:sldId id="304"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D9D9D9"/>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D7412A-DAC3-4394-9D98-FDCBBF5556F8}" v="156" dt="2026-09-03T16:47:26.814"/>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7085" autoAdjust="0"/>
    <p:restoredTop sz="95033" autoAdjust="0"/>
  </p:normalViewPr>
  <p:slideViewPr>
    <p:cSldViewPr snapToGrid="0">
      <p:cViewPr varScale="1">
        <p:scale>
          <a:sx n="85" d="100"/>
          <a:sy n="85" d="100"/>
        </p:scale>
        <p:origin x="-494" y="-77"/>
      </p:cViewPr>
      <p:guideLst>
        <p:guide orient="horz" pos="1968"/>
        <p:guide orient="horz" pos="3912"/>
        <p:guide orient="horz" pos="1656"/>
        <p:guide pos="408"/>
        <p:guide pos="7272"/>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DE SRIJA" userId="d102fa4b91e5344f" providerId="LiveId" clId="{D1F62D58-CF08-469F-8E4D-E240F036514B}"/>
    <pc:docChg chg="custSel modSld">
      <pc:chgData name="JODE SRIJA" userId="d102fa4b91e5344f" providerId="LiveId" clId="{D1F62D58-CF08-469F-8E4D-E240F036514B}" dt="2026-09-03T16:47:53.815" v="258" actId="20577"/>
      <pc:docMkLst>
        <pc:docMk/>
      </pc:docMkLst>
      <pc:sldChg chg="modSp modAnim">
        <pc:chgData name="JODE SRIJA" userId="d102fa4b91e5344f" providerId="LiveId" clId="{D1F62D58-CF08-469F-8E4D-E240F036514B}" dt="2026-09-03T16:45:28.850" v="189" actId="20577"/>
        <pc:sldMkLst>
          <pc:docMk/>
          <pc:sldMk cId="1341901065" sldId="302"/>
        </pc:sldMkLst>
        <pc:spChg chg="mod">
          <ac:chgData name="JODE SRIJA" userId="d102fa4b91e5344f" providerId="LiveId" clId="{D1F62D58-CF08-469F-8E4D-E240F036514B}" dt="2026-09-03T16:45:28.850" v="189" actId="20577"/>
          <ac:spMkLst>
            <pc:docMk/>
            <pc:sldMk cId="1341901065" sldId="302"/>
            <ac:spMk id="7" creationId="{B21C28F5-3CA3-4B78-B5C9-550C00BB3174}"/>
          </ac:spMkLst>
        </pc:spChg>
      </pc:sldChg>
      <pc:sldChg chg="modSp mod">
        <pc:chgData name="JODE SRIJA" userId="d102fa4b91e5344f" providerId="LiveId" clId="{D1F62D58-CF08-469F-8E4D-E240F036514B}" dt="2026-09-03T16:47:53.815" v="258" actId="20577"/>
        <pc:sldMkLst>
          <pc:docMk/>
          <pc:sldMk cId="3401748718" sldId="304"/>
        </pc:sldMkLst>
        <pc:spChg chg="mod">
          <ac:chgData name="JODE SRIJA" userId="d102fa4b91e5344f" providerId="LiveId" clId="{D1F62D58-CF08-469F-8E4D-E240F036514B}" dt="2026-09-03T16:47:53.815" v="258" actId="20577"/>
          <ac:spMkLst>
            <pc:docMk/>
            <pc:sldMk cId="3401748718" sldId="304"/>
            <ac:spMk id="12" creationId="{BC277FD7-925B-4C3D-A364-118403201507}"/>
          </ac:spMkLst>
        </pc:spChg>
      </pc:sldChg>
      <pc:sldChg chg="addSp delSp modSp mod">
        <pc:chgData name="JODE SRIJA" userId="d102fa4b91e5344f" providerId="LiveId" clId="{D1F62D58-CF08-469F-8E4D-E240F036514B}" dt="2026-09-03T16:44:00.073" v="185" actId="20577"/>
        <pc:sldMkLst>
          <pc:docMk/>
          <pc:sldMk cId="3696770303" sldId="315"/>
        </pc:sldMkLst>
        <pc:spChg chg="add del mod">
          <ac:chgData name="JODE SRIJA" userId="d102fa4b91e5344f" providerId="LiveId" clId="{D1F62D58-CF08-469F-8E4D-E240F036514B}" dt="2026-09-03T16:40:31.557" v="170"/>
          <ac:spMkLst>
            <pc:docMk/>
            <pc:sldMk cId="3696770303" sldId="315"/>
            <ac:spMk id="2" creationId="{0E1973E0-E335-9A18-C66B-9F5BFC8B9E9D}"/>
          </ac:spMkLst>
        </pc:spChg>
        <pc:spChg chg="mod">
          <ac:chgData name="JODE SRIJA" userId="d102fa4b91e5344f" providerId="LiveId" clId="{D1F62D58-CF08-469F-8E4D-E240F036514B}" dt="2026-09-03T16:44:00.073" v="185" actId="20577"/>
          <ac:spMkLst>
            <pc:docMk/>
            <pc:sldMk cId="3696770303" sldId="315"/>
            <ac:spMk id="3" creationId="{EBF2FBC7-3552-4F01-BB27-8BEEE74F7277}"/>
          </ac:spMkLst>
        </pc:spChg>
      </pc:sldChg>
      <pc:sldChg chg="modSp mod modAnim">
        <pc:chgData name="JODE SRIJA" userId="d102fa4b91e5344f" providerId="LiveId" clId="{D1F62D58-CF08-469F-8E4D-E240F036514B}" dt="2026-09-03T16:39:58.415" v="161" actId="2711"/>
        <pc:sldMkLst>
          <pc:docMk/>
          <pc:sldMk cId="3098548442" sldId="327"/>
        </pc:sldMkLst>
        <pc:spChg chg="mod">
          <ac:chgData name="JODE SRIJA" userId="d102fa4b91e5344f" providerId="LiveId" clId="{D1F62D58-CF08-469F-8E4D-E240F036514B}" dt="2026-09-03T16:39:58.415" v="161" actId="2711"/>
          <ac:spMkLst>
            <pc:docMk/>
            <pc:sldMk cId="3098548442" sldId="327"/>
            <ac:spMk id="2" creationId="{E46E4DD1-270B-4C80-AFF0-EB26F132AF36}"/>
          </ac:spMkLst>
        </pc:spChg>
      </pc:sldChg>
      <pc:sldChg chg="modSp mod modAnim">
        <pc:chgData name="JODE SRIJA" userId="d102fa4b91e5344f" providerId="LiveId" clId="{D1F62D58-CF08-469F-8E4D-E240F036514B}" dt="2026-09-03T16:44:40.287" v="187" actId="27636"/>
        <pc:sldMkLst>
          <pc:docMk/>
          <pc:sldMk cId="48075006" sldId="329"/>
        </pc:sldMkLst>
        <pc:spChg chg="mod">
          <ac:chgData name="JODE SRIJA" userId="d102fa4b91e5344f" providerId="LiveId" clId="{D1F62D58-CF08-469F-8E4D-E240F036514B}" dt="2026-09-03T16:44:40.287" v="187" actId="27636"/>
          <ac:spMkLst>
            <pc:docMk/>
            <pc:sldMk cId="48075006" sldId="329"/>
            <ac:spMk id="2" creationId="{664E3B60-2780-459A-8583-F095D5E7463A}"/>
          </ac:spMkLst>
        </pc:spChg>
      </pc:sldChg>
      <pc:sldChg chg="addSp delSp modSp mod">
        <pc:chgData name="JODE SRIJA" userId="d102fa4b91e5344f" providerId="LiveId" clId="{D1F62D58-CF08-469F-8E4D-E240F036514B}" dt="2026-09-03T16:24:32.136" v="62" actId="20577"/>
        <pc:sldMkLst>
          <pc:docMk/>
          <pc:sldMk cId="1604013440" sldId="338"/>
        </pc:sldMkLst>
        <pc:spChg chg="mod">
          <ac:chgData name="JODE SRIJA" userId="d102fa4b91e5344f" providerId="LiveId" clId="{D1F62D58-CF08-469F-8E4D-E240F036514B}" dt="2026-09-03T16:24:32.136" v="62" actId="20577"/>
          <ac:spMkLst>
            <pc:docMk/>
            <pc:sldMk cId="1604013440" sldId="338"/>
            <ac:spMk id="2" creationId="{7201737A-B873-4D1D-8A41-5ABF5184BC8F}"/>
          </ac:spMkLst>
        </pc:spChg>
        <pc:spChg chg="mod">
          <ac:chgData name="JODE SRIJA" userId="d102fa4b91e5344f" providerId="LiveId" clId="{D1F62D58-CF08-469F-8E4D-E240F036514B}" dt="2026-09-03T16:23:54.928" v="34" actId="20577"/>
          <ac:spMkLst>
            <pc:docMk/>
            <pc:sldMk cId="1604013440" sldId="338"/>
            <ac:spMk id="3" creationId="{17F04107-8754-E47D-3375-529E689711FA}"/>
          </ac:spMkLst>
        </pc:spChg>
        <pc:spChg chg="add del mod">
          <ac:chgData name="JODE SRIJA" userId="d102fa4b91e5344f" providerId="LiveId" clId="{D1F62D58-CF08-469F-8E4D-E240F036514B}" dt="2026-09-03T16:22:40.556" v="3"/>
          <ac:spMkLst>
            <pc:docMk/>
            <pc:sldMk cId="1604013440" sldId="338"/>
            <ac:spMk id="5" creationId="{E4850925-706B-7590-E8EF-548316E8FC07}"/>
          </ac:spMkLst>
        </pc:spChg>
        <pc:spChg chg="add mod">
          <ac:chgData name="JODE SRIJA" userId="d102fa4b91e5344f" providerId="LiveId" clId="{D1F62D58-CF08-469F-8E4D-E240F036514B}" dt="2026-09-03T16:23:04.202" v="8" actId="14100"/>
          <ac:spMkLst>
            <pc:docMk/>
            <pc:sldMk cId="1604013440" sldId="338"/>
            <ac:spMk id="7" creationId="{BACEA8B1-0A38-EA02-2EAA-AAC9AE92246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pPr/>
              <a:t>9/4/2026</a:t>
            </a:fld>
            <a:endParaRPr lang="en-US" dirty="0"/>
          </a:p>
        </p:txBody>
      </p:sp>
      <p:sp>
        <p:nvSpPr>
          <p:cNvPr id="4" name="Footer Placeholder 3">
            <a:extLst>
              <a:ext uri="{FF2B5EF4-FFF2-40B4-BE49-F238E27FC236}">
                <a16:creationId xmlns:a16="http://schemas.microsoft.com/office/drawing/2014/main" xmlns=""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pPr/>
              <a:t>‹#›</a:t>
            </a:fld>
            <a:endParaRPr lang="en-US" dirty="0"/>
          </a:p>
        </p:txBody>
      </p:sp>
    </p:spTree>
    <p:extLst>
      <p:ext uri="{BB962C8B-B14F-4D97-AF65-F5344CB8AC3E}">
        <p14:creationId xmlns:p14="http://schemas.microsoft.com/office/powerpoint/2010/main" xmlns=""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pPr/>
              <a:t>9/4/2026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pPr/>
              <a:t>‹#›</a:t>
            </a:fld>
            <a:endParaRPr lang="en-US" noProof="0" dirty="0"/>
          </a:p>
        </p:txBody>
      </p:sp>
    </p:spTree>
    <p:extLst>
      <p:ext uri="{BB962C8B-B14F-4D97-AF65-F5344CB8AC3E}">
        <p14:creationId xmlns:p14="http://schemas.microsoft.com/office/powerpoint/2010/main" xmlns=""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pPr/>
              <a:t>5</a:t>
            </a:fld>
            <a:endParaRPr lang="en-US" noProof="0" dirty="0"/>
          </a:p>
        </p:txBody>
      </p:sp>
    </p:spTree>
    <p:extLst>
      <p:ext uri="{BB962C8B-B14F-4D97-AF65-F5344CB8AC3E}">
        <p14:creationId xmlns:p14="http://schemas.microsoft.com/office/powerpoint/2010/main" xmlns=""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pPr/>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pPr/>
              <a:t>‹#›</a:t>
            </a:fld>
            <a:endParaRPr lang="en-US" dirty="0"/>
          </a:p>
        </p:txBody>
      </p:sp>
    </p:spTree>
    <p:extLst>
      <p:ext uri="{BB962C8B-B14F-4D97-AF65-F5344CB8AC3E}">
        <p14:creationId xmlns:p14="http://schemas.microsoft.com/office/powerpoint/2010/main" xmlns=""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pPr/>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pPr/>
              <a:t>‹#›</a:t>
            </a:fld>
            <a:endParaRPr lang="en-US" dirty="0"/>
          </a:p>
        </p:txBody>
      </p:sp>
    </p:spTree>
    <p:extLst>
      <p:ext uri="{BB962C8B-B14F-4D97-AF65-F5344CB8AC3E}">
        <p14:creationId xmlns:p14="http://schemas.microsoft.com/office/powerpoint/2010/main" xmlns=""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9/4/2026</a:t>
            </a:fld>
            <a:endParaRPr lang="en-US" dirty="0"/>
          </a:p>
        </p:txBody>
      </p:sp>
    </p:spTree>
    <p:extLst>
      <p:ext uri="{BB962C8B-B14F-4D97-AF65-F5344CB8AC3E}">
        <p14:creationId xmlns:p14="http://schemas.microsoft.com/office/powerpoint/2010/main" xmlns=""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xmlns=""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xmlns=""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pPr/>
              <a:t>‹#›</a:t>
            </a:fld>
            <a:endParaRPr lang="en-US" dirty="0"/>
          </a:p>
        </p:txBody>
      </p:sp>
    </p:spTree>
    <p:extLst>
      <p:ext uri="{BB962C8B-B14F-4D97-AF65-F5344CB8AC3E}">
        <p14:creationId xmlns:p14="http://schemas.microsoft.com/office/powerpoint/2010/main" xmlns=""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xmlns=""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xmlns=""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xmlns=""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xmlns=""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xmlns=""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xmlns=""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xmlns="" val="1409194673"/>
      </p:ext>
    </p:extLst>
  </p:cSld>
  <p:clrMapOvr>
    <a:masterClrMapping/>
  </p:clrMapOvr>
  <p:extLst>
    <p:ext uri="{DCECCB84-F9BA-43D5-87BE-67443E8EF086}">
      <p15:sldGuideLst xmlns:p15="http://schemas.microsoft.com/office/powerpoint/2012/main" xmlns="">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xmlns=""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xmlns=""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xmlns=""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xmlns=""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xmlns=""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xmlns=""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xmlns="" val="75139580"/>
      </p:ext>
    </p:extLst>
  </p:cSld>
  <p:clrMapOvr>
    <a:masterClrMapping/>
  </p:clrMapOvr>
  <p:extLst>
    <p:ext uri="{DCECCB84-F9BA-43D5-87BE-67443E8EF086}">
      <p15:sldGuideLst xmlns:p15="http://schemas.microsoft.com/office/powerpoint/2012/main" xmlns="">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xmlns=""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xmlns=""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xmlns=""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xmlns="" val="1591254852"/>
      </p:ext>
    </p:extLst>
  </p:cSld>
  <p:clrMapOvr>
    <a:masterClrMapping/>
  </p:clrMapOvr>
  <p:extLst>
    <p:ext uri="{DCECCB84-F9BA-43D5-87BE-67443E8EF086}">
      <p15:sldGuideLst xmlns:p15="http://schemas.microsoft.com/office/powerpoint/2012/main" xmlns="">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xmlns=""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xmlns=""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xmlns=""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xmlns=""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xmlns=""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xmlns=""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xmlns=""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xmlns=""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xmlns=""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xmlns=""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xmlns=""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xmlns=""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xmlns=""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xmlns=""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xmlns=""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xmlns=""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xmlns=""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xmlns=""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xmlns=""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xmlns="" val="1795884839"/>
      </p:ext>
    </p:extLst>
  </p:cSld>
  <p:clrMapOvr>
    <a:masterClrMapping/>
  </p:clrMapOvr>
  <p:extLst>
    <p:ext uri="{DCECCB84-F9BA-43D5-87BE-67443E8EF086}">
      <p15:sldGuideLst xmlns:p15="http://schemas.microsoft.com/office/powerpoint/2012/main" xmlns="">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xmlns=""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xmlns=""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xmlns=""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xmlns=""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xmlns=""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xmlns=""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9/4/2026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xmlns=""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xmlns=""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xmlns=""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peg"/><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peg"/><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201737A-B873-4D1D-8A41-5ABF5184BC8F}"/>
              </a:ext>
            </a:extLst>
          </p:cNvPr>
          <p:cNvSpPr>
            <a:spLocks noGrp="1"/>
          </p:cNvSpPr>
          <p:nvPr>
            <p:ph type="body" sz="quarter" idx="11"/>
          </p:nvPr>
        </p:nvSpPr>
        <p:spPr>
          <a:xfrm>
            <a:off x="6312871" y="4141999"/>
            <a:ext cx="3400089" cy="861497"/>
          </a:xfrm>
        </p:spPr>
        <p:txBody>
          <a:bodyPr/>
          <a:lstStyle/>
          <a:p>
            <a:pPr algn="r"/>
            <a:r>
              <a:rPr lang="en-US" b="0" dirty="0">
                <a:solidFill>
                  <a:schemeClr val="tx1"/>
                </a:solidFill>
              </a:rPr>
              <a:t>[Jode Srija ]</a:t>
            </a:r>
            <a:endParaRPr lang="en-IN" b="0" dirty="0">
              <a:solidFill>
                <a:schemeClr val="tx1"/>
              </a:solidFill>
            </a:endParaRPr>
          </a:p>
        </p:txBody>
      </p:sp>
      <p:sp>
        <p:nvSpPr>
          <p:cNvPr id="4" name="Title 3">
            <a:extLst>
              <a:ext uri="{FF2B5EF4-FFF2-40B4-BE49-F238E27FC236}">
                <a16:creationId xmlns:a16="http://schemas.microsoft.com/office/drawing/2014/main" xmlns="" id="{92056599-CDAA-4367-BEF8-31D6E32518C8}"/>
              </a:ext>
            </a:extLst>
          </p:cNvPr>
          <p:cNvSpPr>
            <a:spLocks noGrp="1"/>
          </p:cNvSpPr>
          <p:nvPr>
            <p:ph type="title"/>
          </p:nvPr>
        </p:nvSpPr>
        <p:spPr>
          <a:xfrm>
            <a:off x="6312871" y="2050553"/>
            <a:ext cx="4998720" cy="743448"/>
          </a:xfrm>
        </p:spPr>
        <p:txBody>
          <a:bodyPr>
            <a:normAutofit/>
          </a:bodyPr>
          <a:lstStyle/>
          <a:p>
            <a:r>
              <a:rPr lang="en-GB" sz="3200" dirty="0"/>
              <a:t>Project Title -</a:t>
            </a:r>
            <a:endParaRPr lang="en-IN" sz="3200" dirty="0"/>
          </a:p>
        </p:txBody>
      </p:sp>
      <p:sp>
        <p:nvSpPr>
          <p:cNvPr id="15" name="Text Placeholder 1">
            <a:extLst>
              <a:ext uri="{FF2B5EF4-FFF2-40B4-BE49-F238E27FC236}">
                <a16:creationId xmlns:a16="http://schemas.microsoft.com/office/drawing/2014/main" xmlns=""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xmlns=""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xmlns="" id="{17F04107-8754-E47D-3375-529E689711FA}"/>
              </a:ext>
            </a:extLst>
          </p:cNvPr>
          <p:cNvSpPr txBox="1"/>
          <p:nvPr/>
        </p:nvSpPr>
        <p:spPr>
          <a:xfrm>
            <a:off x="6312871" y="3256384"/>
            <a:ext cx="3176362" cy="923330"/>
          </a:xfrm>
          <a:prstGeom prst="rect">
            <a:avLst/>
          </a:prstGeom>
          <a:noFill/>
        </p:spPr>
        <p:txBody>
          <a:bodyPr wrap="square" rtlCol="0">
            <a:spAutoFit/>
          </a:bodyPr>
          <a:lstStyle/>
          <a:p>
            <a:r>
              <a:rPr lang="en-US" b="1" dirty="0"/>
              <a:t>AICTE STU ID : STU6a6b6aaf9aba31785424559</a:t>
            </a:r>
          </a:p>
        </p:txBody>
      </p:sp>
      <p:sp>
        <p:nvSpPr>
          <p:cNvPr id="7" name="TextBox 6">
            <a:extLst>
              <a:ext uri="{FF2B5EF4-FFF2-40B4-BE49-F238E27FC236}">
                <a16:creationId xmlns:a16="http://schemas.microsoft.com/office/drawing/2014/main" xmlns="" id="{BACEA8B1-0A38-EA02-2EAA-AAC9AE92246D}"/>
              </a:ext>
            </a:extLst>
          </p:cNvPr>
          <p:cNvSpPr txBox="1"/>
          <p:nvPr/>
        </p:nvSpPr>
        <p:spPr>
          <a:xfrm>
            <a:off x="5430416" y="2631233"/>
            <a:ext cx="8319845" cy="369332"/>
          </a:xfrm>
          <a:prstGeom prst="rect">
            <a:avLst/>
          </a:prstGeom>
          <a:noFill/>
        </p:spPr>
        <p:txBody>
          <a:bodyPr wrap="square" rtlCol="0">
            <a:spAutoFit/>
          </a:bodyPr>
          <a:lstStyle/>
          <a:p>
            <a:r>
              <a:rPr lang="en-IN" dirty="0"/>
              <a:t>Seasonal Agriculture Performance Analysis </a:t>
            </a:r>
          </a:p>
        </p:txBody>
      </p:sp>
    </p:spTree>
    <p:extLst>
      <p:ext uri="{BB962C8B-B14F-4D97-AF65-F5344CB8AC3E}">
        <p14:creationId xmlns:p14="http://schemas.microsoft.com/office/powerpoint/2010/main" xmlns=""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E46E4DD1-270B-4C80-AFF0-EB26F132AF36}"/>
              </a:ext>
            </a:extLst>
          </p:cNvPr>
          <p:cNvSpPr>
            <a:spLocks noGrp="1"/>
          </p:cNvSpPr>
          <p:nvPr>
            <p:ph type="body" sz="quarter" idx="12"/>
          </p:nvPr>
        </p:nvSpPr>
        <p:spPr>
          <a:xfrm>
            <a:off x="1046480" y="1875556"/>
            <a:ext cx="6431280" cy="3607987"/>
          </a:xfrm>
        </p:spPr>
        <p:txBody>
          <a:bodyPr>
            <a:noAutofit/>
          </a:bodyPr>
          <a:lstStyle/>
          <a:p>
            <a:pPr>
              <a:lnSpc>
                <a:spcPct val="150000"/>
              </a:lnSpc>
            </a:pPr>
            <a:r>
              <a:rPr lang="en-US" sz="1600" dirty="0">
                <a:latin typeface="+mj-lt"/>
                <a:cs typeface="Times New Roman" panose="02020603050405020304" pitchFamily="18"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1600" dirty="0">
              <a:latin typeface="+mj-lt"/>
              <a:cs typeface="Times New Roman" panose="02020603050405020304" pitchFamily="18" charset="0"/>
            </a:endParaRPr>
          </a:p>
        </p:txBody>
      </p:sp>
      <p:sp>
        <p:nvSpPr>
          <p:cNvPr id="4" name="Title 3">
            <a:extLst>
              <a:ext uri="{FF2B5EF4-FFF2-40B4-BE49-F238E27FC236}">
                <a16:creationId xmlns:a16="http://schemas.microsoft.com/office/drawing/2014/main" xmlns=""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xmlns=""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xmlns=""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xmlns=""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r>
              <a:rPr lang="en-GB" sz="2000" b="0" dirty="0"/>
              <a:t/>
            </a:r>
            <a:br>
              <a:rPr lang="en-GB" sz="2000" b="0" dirty="0"/>
            </a:br>
            <a:r>
              <a:rPr lang="en-GB" sz="2000" b="0" dirty="0"/>
              <a:t/>
            </a:r>
            <a:br>
              <a:rPr lang="en-GB" sz="2000" b="0" dirty="0"/>
            </a:br>
            <a:r>
              <a:rPr lang="en-IN" sz="2000" b="0" dirty="0"/>
              <a:t>Seasonal Agriculture Performance Analysis – Description</a:t>
            </a:r>
            <a:br>
              <a:rPr lang="en-IN" sz="2000" b="0" dirty="0"/>
            </a:br>
            <a:r>
              <a:rPr lang="en-IN" sz="2000" b="0" dirty="0"/>
              <a:t>Seasonal Agriculture Performance Analysis is the study of agricultural production and crop performance across different seasons. It </a:t>
            </a:r>
            <a:r>
              <a:rPr lang="en-IN" sz="2000" b="0" dirty="0" err="1"/>
              <a:t>analyzes</a:t>
            </a:r>
            <a:r>
              <a:rPr lang="en-IN" sz="2000" b="0" dirty="0"/>
              <a:t> factors such as crop yield, rainfall, temperature, soil conditions, irrigation, and seasonal variations to understand their impact on agricultural productivity. The analysis helps farmers and agricultural planners identify high-performing crops, suitable growing seasons, production trends, and areas for improvement. Data visualization techniques such as bar charts, line graphs, and pie charts can be used to clearly present the results and support better decision-making.</a:t>
            </a:r>
            <a:br>
              <a:rPr lang="en-IN" sz="2000" b="0" dirty="0"/>
            </a:br>
            <a:r>
              <a:rPr lang="en-GB" sz="2000" b="0" dirty="0"/>
              <a:t/>
            </a:r>
            <a:br>
              <a:rPr lang="en-GB" sz="2000" b="0" dirty="0"/>
            </a:br>
            <a:endParaRPr lang="en-IN" sz="2000" b="0" dirty="0"/>
          </a:p>
        </p:txBody>
      </p:sp>
      <p:pic>
        <p:nvPicPr>
          <p:cNvPr id="5" name="Picture 4">
            <a:extLst>
              <a:ext uri="{FF2B5EF4-FFF2-40B4-BE49-F238E27FC236}">
                <a16:creationId xmlns:a16="http://schemas.microsoft.com/office/drawing/2014/main" xmlns=""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xmlns=""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xmlns=""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664E3B60-2780-459A-8583-F095D5E7463A}"/>
              </a:ext>
            </a:extLst>
          </p:cNvPr>
          <p:cNvSpPr>
            <a:spLocks noGrp="1"/>
          </p:cNvSpPr>
          <p:nvPr>
            <p:ph type="body" sz="quarter" idx="12"/>
          </p:nvPr>
        </p:nvSpPr>
        <p:spPr>
          <a:xfrm>
            <a:off x="721359" y="1991360"/>
            <a:ext cx="7904481" cy="3990023"/>
          </a:xfrm>
        </p:spPr>
        <p:txBody>
          <a:bodyPr>
            <a:normAutofit fontScale="55000" lnSpcReduction="20000"/>
          </a:bodyPr>
          <a:lstStyle/>
          <a:p>
            <a:pPr lvl="0"/>
            <a:r>
              <a:rPr lang="en-IN" sz="3600" dirty="0"/>
              <a:t>👨‍🌾 </a:t>
            </a:r>
            <a:r>
              <a:rPr lang="en-IN" sz="3600" b="1" dirty="0"/>
              <a:t>Farmers</a:t>
            </a:r>
            <a:r>
              <a:rPr lang="en-IN" sz="3600" dirty="0"/>
              <a:t> – To understand crop performance and choose suitable crops and seasons. </a:t>
            </a:r>
          </a:p>
          <a:p>
            <a:pPr lvl="0"/>
            <a:r>
              <a:rPr lang="en-IN" sz="3600" dirty="0"/>
              <a:t>🏢 </a:t>
            </a:r>
            <a:r>
              <a:rPr lang="en-IN" sz="3600" b="1" dirty="0"/>
              <a:t>Agricultural Departments</a:t>
            </a:r>
            <a:r>
              <a:rPr lang="en-IN" sz="3600" dirty="0"/>
              <a:t> – To monitor agricultural production and seasonal trends. </a:t>
            </a:r>
          </a:p>
          <a:p>
            <a:pPr lvl="0"/>
            <a:r>
              <a:rPr lang="en-IN" sz="3600" dirty="0"/>
              <a:t>🔬 </a:t>
            </a:r>
            <a:r>
              <a:rPr lang="en-IN" sz="3600" b="1" dirty="0"/>
              <a:t>Agricultural Researchers</a:t>
            </a:r>
            <a:r>
              <a:rPr lang="en-IN" sz="3600" dirty="0"/>
              <a:t> – To </a:t>
            </a:r>
            <a:r>
              <a:rPr lang="en-IN" sz="3600" dirty="0" err="1"/>
              <a:t>analyze</a:t>
            </a:r>
            <a:r>
              <a:rPr lang="en-IN" sz="3600" dirty="0"/>
              <a:t> crop, weather, and yield patterns. </a:t>
            </a:r>
          </a:p>
          <a:p>
            <a:pPr lvl="0"/>
            <a:r>
              <a:rPr lang="en-IN" sz="3600" dirty="0"/>
              <a:t>📊 </a:t>
            </a:r>
            <a:r>
              <a:rPr lang="en-IN" sz="3600" b="1" dirty="0"/>
              <a:t>Agricultural Analysts</a:t>
            </a:r>
            <a:r>
              <a:rPr lang="en-IN" sz="3600" dirty="0"/>
              <a:t> – To study data and generate useful insights. </a:t>
            </a:r>
          </a:p>
          <a:p>
            <a:pPr lvl="0"/>
            <a:r>
              <a:rPr lang="en-IN" sz="3600" dirty="0"/>
              <a:t>🌱 </a:t>
            </a:r>
            <a:r>
              <a:rPr lang="en-IN" sz="3600" b="1" dirty="0"/>
              <a:t>Agribusiness Companies</a:t>
            </a:r>
            <a:r>
              <a:rPr lang="en-IN" sz="3600" dirty="0"/>
              <a:t> – To support crop planning and resource management. </a:t>
            </a:r>
          </a:p>
          <a:p>
            <a:pPr lvl="0"/>
            <a:r>
              <a:rPr lang="en-IN" sz="3600" dirty="0"/>
              <a:t>🏦 </a:t>
            </a:r>
            <a:r>
              <a:rPr lang="en-IN" sz="3600" b="1" dirty="0"/>
              <a:t>Government &amp; Policy Makers</a:t>
            </a:r>
            <a:r>
              <a:rPr lang="en-IN" sz="3600" dirty="0"/>
              <a:t> – To make better agricultural policies and decisions.</a:t>
            </a:r>
          </a:p>
          <a:p>
            <a:pPr algn="just">
              <a:lnSpc>
                <a:spcPct val="150000"/>
              </a:lnSpc>
            </a:pPr>
            <a:endParaRPr lang="en-IN" sz="3600" dirty="0"/>
          </a:p>
        </p:txBody>
      </p:sp>
      <p:sp>
        <p:nvSpPr>
          <p:cNvPr id="4" name="Title 3">
            <a:extLst>
              <a:ext uri="{FF2B5EF4-FFF2-40B4-BE49-F238E27FC236}">
                <a16:creationId xmlns:a16="http://schemas.microsoft.com/office/drawing/2014/main" xmlns=""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xmlns=""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xmlns=""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xmlns=""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xmlns="" id="{B21C28F5-3CA3-4B78-B5C9-550C00BB3174}"/>
              </a:ext>
            </a:extLst>
          </p:cNvPr>
          <p:cNvSpPr>
            <a:spLocks noGrp="1"/>
          </p:cNvSpPr>
          <p:nvPr>
            <p:ph type="body" sz="quarter" idx="12"/>
          </p:nvPr>
        </p:nvSpPr>
        <p:spPr>
          <a:xfrm>
            <a:off x="390618" y="1432560"/>
            <a:ext cx="9027702" cy="5243448"/>
          </a:xfrm>
        </p:spPr>
        <p:txBody>
          <a:bodyPr/>
          <a:lstStyle/>
          <a:p>
            <a:pPr lvl="0"/>
            <a:r>
              <a:rPr lang="en-IN" b="1" dirty="0"/>
              <a:t>python</a:t>
            </a:r>
            <a:r>
              <a:rPr lang="en-IN" dirty="0"/>
              <a:t> – Data analysis and processing </a:t>
            </a:r>
          </a:p>
          <a:p>
            <a:pPr lvl="0"/>
            <a:r>
              <a:rPr lang="en-IN" b="1" dirty="0"/>
              <a:t>Pandas</a:t>
            </a:r>
            <a:r>
              <a:rPr lang="en-IN" dirty="0"/>
              <a:t> – Data cleaning and manipulation </a:t>
            </a:r>
          </a:p>
          <a:p>
            <a:pPr lvl="0"/>
            <a:r>
              <a:rPr lang="en-IN" b="1" dirty="0"/>
              <a:t>NumPy</a:t>
            </a:r>
            <a:r>
              <a:rPr lang="en-IN" dirty="0"/>
              <a:t> – Numerical calculations </a:t>
            </a:r>
          </a:p>
          <a:p>
            <a:pPr lvl="0"/>
            <a:r>
              <a:rPr lang="en-IN" b="1" dirty="0"/>
              <a:t>Matplotlib &amp; Seaborn</a:t>
            </a:r>
            <a:r>
              <a:rPr lang="en-IN" dirty="0"/>
              <a:t> – Data visualization </a:t>
            </a:r>
          </a:p>
          <a:p>
            <a:pPr lvl="0"/>
            <a:r>
              <a:rPr lang="en-IN" b="1" dirty="0"/>
              <a:t>Jupyter Notebook</a:t>
            </a:r>
            <a:r>
              <a:rPr lang="en-IN" dirty="0"/>
              <a:t> – Development and analysis environment </a:t>
            </a:r>
          </a:p>
          <a:p>
            <a:pPr lvl="0"/>
            <a:r>
              <a:rPr lang="en-IN" b="1" dirty="0"/>
              <a:t>Excel / CSV</a:t>
            </a:r>
            <a:r>
              <a:rPr lang="en-IN" dirty="0"/>
              <a:t> – Dataset storage and management </a:t>
            </a:r>
          </a:p>
          <a:p>
            <a:pPr lvl="0"/>
            <a:r>
              <a:rPr lang="en-IN" b="1" dirty="0"/>
              <a:t>Machine Learning</a:t>
            </a:r>
            <a:r>
              <a:rPr lang="en-IN" dirty="0"/>
              <a:t> – Crop performance and seasonal trend analysis</a:t>
            </a:r>
          </a:p>
          <a:p>
            <a:pPr lvl="1">
              <a:lnSpc>
                <a:spcPct val="150000"/>
              </a:lnSpc>
            </a:pPr>
            <a:endParaRPr lang="en-IN" dirty="0"/>
          </a:p>
        </p:txBody>
      </p:sp>
      <p:sp>
        <p:nvSpPr>
          <p:cNvPr id="9" name="Title 8">
            <a:extLst>
              <a:ext uri="{FF2B5EF4-FFF2-40B4-BE49-F238E27FC236}">
                <a16:creationId xmlns:a16="http://schemas.microsoft.com/office/drawing/2014/main" xmlns=""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xmlns=""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xmlns=""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xmlns=""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xmlns="" id="{B19D8AC7-3787-4ADB-9212-0808F015C2DD}"/>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11" name="Picture 10">
            <a:extLst>
              <a:ext uri="{FF2B5EF4-FFF2-40B4-BE49-F238E27FC236}">
                <a16:creationId xmlns:a16="http://schemas.microsoft.com/office/drawing/2014/main" xmlns:lc="http://schemas.openxmlformats.org/drawingml/2006/lockedCanvas" xmlns="" id="{86B65B4A-3387-0506-48BB-F15F4EE6846B}"/>
              </a:ext>
            </a:extLst>
          </p:cNvPr>
          <p:cNvPicPr>
            <a:picLocks noChangeAspect="1"/>
          </p:cNvPicPr>
          <p:nvPr/>
        </p:nvPicPr>
        <p:blipFill>
          <a:blip r:embed="rId4"/>
          <a:stretch>
            <a:fillRect/>
          </a:stretch>
        </p:blipFill>
        <p:spPr>
          <a:xfrm>
            <a:off x="718619" y="1321381"/>
            <a:ext cx="7413684" cy="4197655"/>
          </a:xfrm>
          <a:prstGeom prst="rect">
            <a:avLst/>
          </a:prstGeom>
        </p:spPr>
      </p:pic>
    </p:spTree>
    <p:extLst>
      <p:ext uri="{BB962C8B-B14F-4D97-AF65-F5344CB8AC3E}">
        <p14:creationId xmlns:p14="http://schemas.microsoft.com/office/powerpoint/2010/main" xmlns=""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xmlns="" id="{79B4A24F-1958-1EAC-4E97-0F4035F895CB}"/>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xmlns=""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xmlns="" id="{3A64DB11-806F-1A4C-E0D5-D745D29CED5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11" name="Picture 10">
            <a:extLst>
              <a:ext uri="{FF2B5EF4-FFF2-40B4-BE49-F238E27FC236}">
                <a16:creationId xmlns:a16="http://schemas.microsoft.com/office/drawing/2014/main" xmlns:lc="http://schemas.openxmlformats.org/drawingml/2006/lockedCanvas" xmlns="" id="{81044E88-C0AF-5A0F-C4E0-4F7BA46D2E1F}"/>
              </a:ext>
            </a:extLst>
          </p:cNvPr>
          <p:cNvPicPr>
            <a:picLocks noChangeAspect="1"/>
          </p:cNvPicPr>
          <p:nvPr/>
        </p:nvPicPr>
        <p:blipFill>
          <a:blip r:embed="rId4"/>
          <a:stretch>
            <a:fillRect/>
          </a:stretch>
        </p:blipFill>
        <p:spPr>
          <a:xfrm>
            <a:off x="835269" y="1281486"/>
            <a:ext cx="7701598" cy="4785187"/>
          </a:xfrm>
          <a:prstGeom prst="rect">
            <a:avLst/>
          </a:prstGeom>
        </p:spPr>
      </p:pic>
    </p:spTree>
    <p:extLst>
      <p:ext uri="{BB962C8B-B14F-4D97-AF65-F5344CB8AC3E}">
        <p14:creationId xmlns:p14="http://schemas.microsoft.com/office/powerpoint/2010/main" xmlns=""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xmlns=""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xmlns=""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xmlns=""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xmlns=""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xmlns=""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xmlns=""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xmlns=""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xmlns="" id="{BC277FD7-925B-4C3D-A364-118403201507}"/>
              </a:ext>
            </a:extLst>
          </p:cNvPr>
          <p:cNvSpPr>
            <a:spLocks noGrp="1"/>
          </p:cNvSpPr>
          <p:nvPr>
            <p:ph type="body" sz="quarter" idx="12"/>
          </p:nvPr>
        </p:nvSpPr>
        <p:spPr>
          <a:xfrm>
            <a:off x="2435290" y="2216075"/>
            <a:ext cx="5353873" cy="2897101"/>
          </a:xfrm>
        </p:spPr>
        <p:txBody>
          <a:bodyPr>
            <a:normAutofit/>
          </a:bodyPr>
          <a:lstStyle/>
          <a:p>
            <a:r>
              <a:rPr lang="en-IN" dirty="0"/>
              <a:t/>
            </a:r>
            <a:br>
              <a:rPr lang="en-IN" dirty="0"/>
            </a:br>
            <a:r>
              <a:rPr lang="en-IN" dirty="0"/>
              <a:t>🌱 </a:t>
            </a:r>
            <a:r>
              <a:rPr lang="en-IN" i="1" dirty="0"/>
              <a:t>Seasonal Agriculture Performance Analysis</a:t>
            </a:r>
            <a:endParaRPr lang="en-IN" dirty="0"/>
          </a:p>
          <a:p>
            <a:endParaRPr lang="en-IN" dirty="0"/>
          </a:p>
          <a:p>
            <a:endParaRPr lang="en-IN" dirty="0"/>
          </a:p>
        </p:txBody>
      </p:sp>
    </p:spTree>
    <p:extLst>
      <p:ext uri="{BB962C8B-B14F-4D97-AF65-F5344CB8AC3E}">
        <p14:creationId xmlns:p14="http://schemas.microsoft.com/office/powerpoint/2010/main" xmlns=""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584</TotalTime>
  <Words>257</Words>
  <Application>Microsoft Office PowerPoint</Application>
  <PresentationFormat>Custom</PresentationFormat>
  <Paragraphs>31</Paragraphs>
  <Slides>8</Slides>
  <Notes>1</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Facet</vt:lpstr>
      <vt:lpstr>Project Title -</vt:lpstr>
      <vt:lpstr>PROBLEM  STATEMENT</vt:lpstr>
      <vt:lpstr>Project Description   Seasonal Agriculture Performance Analysis – Description Seasonal Agriculture Performance Analysis is the study of agricultural production and crop performance across different seasons. It analyzes factors such as crop yield, rainfall, temperature, soil conditions, irrigation, and seasonal variations to understand their impact on agricultural productivity. The analysis helps farmers and agricultural planners identify high-performing crops, suitable growing seasons, production trends, and areas for improvement. Data visualization techniques such as bar charts, line graphs, and pie charts can be used to clearly present the results and support better decision-making.  </vt:lpstr>
      <vt:lpstr>WHO ARE THE END USERS?</vt:lpstr>
      <vt:lpstr>Technology Used</vt:lpstr>
      <vt:lpstr>RESULTS </vt:lpstr>
      <vt:lpstr>RESULTS </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SRIJA</cp:lastModifiedBy>
  <cp:revision>75</cp:revision>
  <dcterms:created xsi:type="dcterms:W3CDTF">2021-07-11T13:13:15Z</dcterms:created>
  <dcterms:modified xsi:type="dcterms:W3CDTF">2026-09-04T08:20:13Z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